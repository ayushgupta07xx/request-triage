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indent="0" marL="0">
              <a:buNone/>
            </a:pPr>
            <a:r>
              <a:rPr lang="en-US" sz="950" spc="24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05     </a:t>
            </a:r>
            <a:pPr indent="0" marL="0">
              <a:buNone/>
            </a:pPr>
            <a:r>
              <a:rPr lang="en-US" sz="950" spc="240" kern="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20" kern="0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 AND OBJECTIVE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  ·   AYUSH GUPTA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79615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handoff-triage.vercel.app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consumer lending and mortgage servicing desk takes a continuous stream of requests by email, web form and shared inbox. Today a person reads every one of them and decides what happens next.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OWN THREE WORDS — TAKEN AS THE DESIGN TARGETS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332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9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until a human has read it. Handle time and SLA breach risk scale straight with volume.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29658" y="2103120"/>
            <a:ext cx="3332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9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29658" y="256032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 resolves differently depending on who opens it, and how busy the floor is that hour.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19237" y="2103120"/>
            <a:ext cx="3332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9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Judgment-dependent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19237" y="256032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records why a case went where. Quality lives in individual heads, and leaves when they do.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3467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the correct remediation end to end — and know when not to.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0080" y="4005072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asks for automatic processing of every request, and every request is processed automatically. Automatic closure is a different question: on a regulated desk, a system that resolves a hardship disclosure or a disputed charge by itself is a compliance incident, not a feature.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956048"/>
            <a:ext cx="10911535" cy="896112"/>
          </a:xfrm>
          <a:prstGeom prst="roundRect">
            <a:avLst>
              <a:gd name="adj" fmla="val 5102"/>
            </a:avLst>
          </a:prstGeom>
          <a:solidFill>
            <a:srgbClr val="0F1F1C"/>
          </a:solidFill>
          <a:ln w="12700">
            <a:solidFill>
              <a:srgbClr val="0F1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56048"/>
            <a:ext cx="109115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B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decides.   The state machine executes.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indent="0" marL="0">
              <a:buNone/>
            </a:pPr>
            <a:r>
              <a:rPr lang="en-US" sz="950" spc="24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05     </a:t>
            </a:r>
            <a:pPr indent="0" marL="0">
              <a:buNone/>
            </a:pPr>
            <a:r>
              <a:rPr lang="en-US" sz="950" spc="240" kern="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20" kern="0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 AND DESIGN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  ·   AYUSH GUPTA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79615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handoff-triage.vercel.app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the only place the model acts. Everything after it — control flow, side effects, every drafted word — is deterministic code and configuration.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2036003" cy="731520"/>
          </a:xfrm>
          <a:prstGeom prst="roundRect">
            <a:avLst>
              <a:gd name="adj" fmla="val 6250"/>
            </a:avLst>
          </a:prstGeom>
          <a:solidFill>
            <a:srgbClr val="191816"/>
          </a:solidFill>
          <a:ln w="12700">
            <a:solidFill>
              <a:srgbClr val="1918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27632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 · batch upload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inbox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76083" y="1536192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8963" y="1536192"/>
            <a:ext cx="2036003" cy="731520"/>
          </a:xfrm>
          <a:prstGeom prst="roundRect">
            <a:avLst>
              <a:gd name="adj" fmla="val 6250"/>
            </a:avLst>
          </a:prstGeom>
          <a:solidFill>
            <a:srgbClr val="191816"/>
          </a:solidFill>
          <a:ln w="12700">
            <a:solidFill>
              <a:srgbClr val="1918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0403" y="1627632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CHECK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50403" y="1828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fingerprint,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model call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4966" y="1536192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77846" y="1536192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0F1F1C"/>
          </a:solidFill>
          <a:ln w="12700">
            <a:solidFill>
              <a:srgbClr val="1F9E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9286" y="1627632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B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69286" y="1828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type × urgency,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rationale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13849" y="1536192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96729" y="1536192"/>
            <a:ext cx="2036003" cy="731520"/>
          </a:xfrm>
          <a:prstGeom prst="roundRect">
            <a:avLst>
              <a:gd name="adj" fmla="val 6250"/>
            </a:avLst>
          </a:prstGeom>
          <a:solidFill>
            <a:srgbClr val="191816"/>
          </a:solidFill>
          <a:ln w="12700">
            <a:solidFill>
              <a:srgbClr val="1918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169" y="1627632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88169" y="1828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filters,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32732" y="1536192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515612" y="1536192"/>
            <a:ext cx="2036003" cy="731520"/>
          </a:xfrm>
          <a:prstGeom prst="roundRect">
            <a:avLst>
              <a:gd name="adj" fmla="val 6250"/>
            </a:avLst>
          </a:prstGeom>
          <a:solidFill>
            <a:srgbClr val="191816"/>
          </a:solidFill>
          <a:ln w="12700">
            <a:solidFill>
              <a:srgbClr val="1918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7052" y="1627632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GATES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7052" y="1828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confidence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floor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237744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SELECTS THE BRANCH   ·   URGENCY MODULATES WITHIN IT: SLA CLOCK, SENIOR ROUTING, CONDITIONAL STEPS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" y="2688336"/>
            <a:ext cx="10911535" cy="420624"/>
          </a:xfrm>
          <a:prstGeom prst="roundRect">
            <a:avLst>
              <a:gd name="adj" fmla="val 10870"/>
            </a:avLst>
          </a:prstGeom>
          <a:solidFill>
            <a:srgbClr val="191816"/>
          </a:solidFill>
          <a:ln w="12700">
            <a:solidFill>
              <a:srgbClr val="1918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268833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billing_dispute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60320" y="2688336"/>
            <a:ext cx="7391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acknowledgement  ›  suppress collections  ›  route to Disputes  ›  SLA follow-up  ›  log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997135" y="2688336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95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awaiting_human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172968"/>
            <a:ext cx="10911535" cy="420624"/>
          </a:xfrm>
          <a:prstGeom prst="roundRect">
            <a:avLst>
              <a:gd name="adj" fmla="val 10870"/>
            </a:avLst>
          </a:prstGeom>
          <a:solidFill>
            <a:srgbClr val="141311"/>
          </a:solidFill>
          <a:ln w="12700">
            <a:solidFill>
              <a:srgbClr val="1413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172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general_enquiry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60320" y="3172968"/>
            <a:ext cx="7391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match  ›  sourced draft, cited  ›  log        the only branch permitted to close itself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997135" y="317296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auto_resolved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657600"/>
            <a:ext cx="10911535" cy="420624"/>
          </a:xfrm>
          <a:prstGeom prst="roundRect">
            <a:avLst>
              <a:gd name="adj" fmla="val 10870"/>
            </a:avLst>
          </a:prstGeom>
          <a:solidFill>
            <a:srgbClr val="191816"/>
          </a:solidFill>
          <a:ln w="12700">
            <a:solidFill>
              <a:srgbClr val="1918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365760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service_request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60320" y="3657600"/>
            <a:ext cx="7391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details  ›  route to Servicing Ops  ›  start SLA timer  ›  follow-up  ›  log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997135" y="3657600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95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awaiting_human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4142232"/>
            <a:ext cx="10911535" cy="420624"/>
          </a:xfrm>
          <a:prstGeom prst="roundRect">
            <a:avLst>
              <a:gd name="adj" fmla="val 10870"/>
            </a:avLst>
          </a:prstGeom>
          <a:solidFill>
            <a:srgbClr val="141311"/>
          </a:solidFill>
          <a:ln w="12700">
            <a:solidFill>
              <a:srgbClr val="1413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41422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financial_hardship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60320" y="4142232"/>
            <a:ext cx="7391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AUTOMATION  ›  escalate  ›  notify supervisor  ›  supportive draft  ›  follow-up  ›  log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997135" y="414223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26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" y="4626864"/>
            <a:ext cx="10911535" cy="420624"/>
          </a:xfrm>
          <a:prstGeom prst="roundRect">
            <a:avLst>
              <a:gd name="adj" fmla="val 10870"/>
            </a:avLst>
          </a:prstGeom>
          <a:solidFill>
            <a:srgbClr val="191816"/>
          </a:solidFill>
          <a:ln w="12700">
            <a:solidFill>
              <a:srgbClr val="1918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462686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60320" y="4626864"/>
            <a:ext cx="7391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Triage Queue  ›  log        honest spam / misrouted branch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997135" y="462686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95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awaiting_human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523036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spc="14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GATES DEMOTE A CASE TOWARD A HUMAN. NONE PROMOTE ONE.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stores the model's proposal and the system's decision as separate records, the full step trace, and which provider tier decided it. A human override re-runs the corrected branch and is kept as labelled training signal.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indent="0" marL="0">
              <a:buNone/>
            </a:pPr>
            <a:r>
              <a:rPr lang="en-US" sz="950" spc="24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05     </a:t>
            </a:r>
            <a:pPr indent="0" marL="0">
              <a:buNone/>
            </a:pPr>
            <a:r>
              <a:rPr lang="en-US" sz="950" spc="240" kern="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20" kern="0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HIGHLIGHTS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  ·   AYUSH GUPTA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79615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handoff-triage.vercel.app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B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8653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ACCURACY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2048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100. Executed once, scored once, on the quality tier. 95% CI 80.2–93.0.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77640" y="124358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47.0%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977640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KEYWORD-FLOOR BASELINE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77640" y="18653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fallback on the same split. The model earns +41 points over it.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64808" y="124358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464808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COMPLETION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64808" y="18653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of 100 on test, 40 of 40 on the cross-family holdout. No branch stalled.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951976" y="124358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95197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WITHIN ONE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51976" y="18653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exact. Adjacent errors only shift queue position; the branch absorbs them.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265176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FOUR NAMED ACTIONS, ACROSS ALL FIVE BRANCHES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52928"/>
          <a:ext cx="47548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640080"/>
                <a:gridCol w="548640"/>
                <a:gridCol w="713232"/>
                <a:gridCol w="502920"/>
                <a:gridCol w="1024128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80" kern="0" dirty="0">
                          <a:solidFill>
                            <a:srgbClr val="9C9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80" kern="0" dirty="0">
                          <a:solidFill>
                            <a:srgbClr val="9C9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80" kern="0" dirty="0">
                          <a:solidFill>
                            <a:srgbClr val="9C9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80" kern="0" dirty="0">
                          <a:solidFill>
                            <a:srgbClr val="9C9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80" kern="0" dirty="0">
                          <a:solidFill>
                            <a:srgbClr val="9C9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80" kern="0" dirty="0">
                          <a:solidFill>
                            <a:srgbClr val="9C95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4F2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billing_dispute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9C958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awaiting_human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4F2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general_enquiry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BF9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auto_resolved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4F2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service_request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9C958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awaiting_human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4F2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financial_hardship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C264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escalated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4F2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other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5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BF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9C958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awaiting_human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311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40080" y="45537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named action is exercised by at least two branches. Every branch runs two to six steps. Hardship pauses automation as its first step and can never auto-resolve.</a:t>
            </a:r>
            <a:endParaRPr lang="en-US" sz="900" dirty="0"/>
          </a:p>
        </p:txBody>
      </p:sp>
      <p:pic>
        <p:nvPicPr>
          <p:cNvPr id="21" name="Image 0" descr="/home/claude/deck/img/desk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852928"/>
            <a:ext cx="5699455" cy="13264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852160" y="4307363"/>
            <a:ext cx="5699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decision: type and urgency, the confidence that cleared no gate, the provider tier that decided it, and the status the branch ended in.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40080" y="5029200"/>
            <a:ext cx="10911535" cy="987552"/>
          </a:xfrm>
          <a:prstGeom prst="roundRect">
            <a:avLst>
              <a:gd name="adj" fmla="val 4630"/>
            </a:avLst>
          </a:prstGeom>
          <a:solidFill>
            <a:srgbClr val="0F1F1C"/>
          </a:solidFill>
          <a:ln w="12700">
            <a:solidFill>
              <a:srgbClr val="0F1F1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4400" y="51572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2A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SAFETY LAYER COSTS, AND WHY IT IS PRICED THAT WAY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914400" y="535838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holdout the model proposed the correct type 39 times in 40 — 97.5%. The system scored 92.5%, because the hardship guardrail overrode two of those correct calls, both on the phrase “cannot afford”. One was a disabled customer on benefits asking for a redemption statement: the model read the surface request, the guardrail read the disclosure underneath it. Two thirds of the measured error is the safety layer doing its job.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indent="0" marL="0">
              <a:buNone/>
            </a:pPr>
            <a:r>
              <a:rPr lang="en-US" sz="950" spc="24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05     </a:t>
            </a:r>
            <a:pPr indent="0" marL="0">
              <a:buNone/>
            </a:pPr>
            <a:r>
              <a:rPr lang="en-US" sz="950" spc="240" kern="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LEARNINGS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20" kern="0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LEARNINGS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  ·   AYUSH GUPTA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79615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handoff-triage.vercel.app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316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517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bounded-autonomy tension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517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invites an agent. A regulated lending desk is the wrong place to give a model authority over side effects.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517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splitting perception from control: the model proposes a classification, the state machine disposes. Four gates — guardrails, confidence, grounding, provider floor — can each demote a case toward a human, and not one of them can promote a case toward automation.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79312" y="1316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79312" y="1536192"/>
            <a:ext cx="517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configuration that lied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9312" y="1901952"/>
            <a:ext cx="517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workflows.yaml declared the enquiry branch grounded while the engine returned a hardcoded placeholder. Thirty-four cases were reported auto-resolved having resolved nothing.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79312" y="2542032"/>
            <a:ext cx="517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clicking through the console, not by a test — config asserted a capability the code never implemented. A real knowledge base and a grounding gate now make that flag an enforced contract. Fixing it moved automation from 17.0% to 8.5%: the honest direction for a number to move.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78224"/>
            <a:ext cx="517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instead of asserting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443984"/>
            <a:ext cx="517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LLM-generated, so its labels are an upper bound. A single accuracy figure with nothing beside it says very little.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5084064"/>
            <a:ext cx="517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against a keyword baseline on the same split with Wilson intervals, and checked against a holdout generated by a different model family, which converges at 92.5%. Calibration error is 0.027 but rests on only three distinct confidence values. Critical recall of 0 in 11 was audited row by row, not relabelled.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9312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79312" y="4078224"/>
            <a:ext cx="517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the suggested stack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79312" y="4443984"/>
            <a:ext cx="517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suggests Streamlit or Gradio with n8n or Retool. We used none of them, which needs justifying rather than assuming.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79312" y="5084064"/>
            <a:ext cx="517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with authority to pause collections needs control flow that is replayable, unit-testable and reviewable in version control. workflows.yaml keeps the declarative benefit those tools sell: an operations manager adds a request type by editing config, with no developer and no deploy.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indent="0" marL="0">
              <a:buNone/>
            </a:pPr>
            <a:r>
              <a:rPr lang="en-US" sz="950" spc="24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05     </a:t>
            </a:r>
            <a:pPr indent="0" marL="0">
              <a:buNone/>
            </a:pPr>
            <a:r>
              <a:rPr lang="en-US" sz="950" spc="240" kern="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SUMMARY AND 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20" kern="0" dirty="0">
                <a:solidFill>
                  <a:srgbClr val="F4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SUMMARY AND NEXT STEPS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  ·   AYUSH GUPTA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79615" y="6345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handoff-triage.vercel.app</a:t>
            </a:r>
            <a:endParaRPr lang="en-US" sz="800" dirty="0"/>
          </a:p>
        </p:txBody>
      </p:sp>
      <p:pic>
        <p:nvPicPr>
          <p:cNvPr id="6" name="Image 0" descr="/home/claude/deck/img/la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33856"/>
            <a:ext cx="6949440" cy="3126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40649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opens cold from committed batch data — no keys, no network. Live mode sends a pasted message through the same pipeline, with a provider-outage toggle that degrades on the real code path rather than animating one.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4992624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RECORDING SHOWS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0080" y="51937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request types arriving across three intake channels, each taking a visibly different branch — including a hardship disclosure the model under-read and a guardrail escalated over it.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01000" y="1133856"/>
            <a:ext cx="3550615" cy="1024128"/>
          </a:xfrm>
          <a:prstGeom prst="roundRect">
            <a:avLst>
              <a:gd name="adj" fmla="val 4464"/>
            </a:avLst>
          </a:prstGeom>
          <a:solidFill>
            <a:srgbClr val="0F1F1C"/>
          </a:solidFill>
          <a:ln w="12700">
            <a:solidFill>
              <a:srgbClr val="0F1F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38744" y="1261872"/>
            <a:ext cx="3093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2A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LINKS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238744" y="1481328"/>
            <a:ext cx="3093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A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handoff-triage.vercel.app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github.com/ayushgupta07xx/Request-Triage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01000" y="2377440"/>
            <a:ext cx="35506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90" kern="0" dirty="0">
                <a:solidFill>
                  <a:srgbClr val="1F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STEPS, ORDERED BY LEVERAGE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01000" y="270662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75320" y="2706624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knowledge base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bounded by coverage, not model quality.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01000" y="33101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75320" y="3310128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the override queue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is already stored as labelled signal.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01000" y="39136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75320" y="3913632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behind kb.lookup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to swap is already isolated.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001000" y="45171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75320" y="4517136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and queue workers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per-class routing, at ~10k requests a day.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001000" y="51206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75320" y="512064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review to a real rota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9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become the next version's training set.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Handoff — Incoming Request Processing Workflow</dc:title>
  <dc:subject>PptxGenJS Presentation</dc:subject>
  <dc:creator>Ayush Gupta</dc:creator>
  <cp:lastModifiedBy>Ayush Gupta</cp:lastModifiedBy>
  <cp:revision>1</cp:revision>
  <dcterms:created xsi:type="dcterms:W3CDTF">2026-07-25T13:36:46Z</dcterms:created>
  <dcterms:modified xsi:type="dcterms:W3CDTF">2026-07-25T13:36:46Z</dcterms:modified>
</cp:coreProperties>
</file>